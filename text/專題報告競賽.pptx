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60320"/>
            <a:ext cx="320040" cy="17373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微軟正黑體"/>
              </a:rPr>
              <a:t>智慧實驗室管理系統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B0F0"/>
                </a:solidFill>
                <a:latin typeface="微軟正黑體"/>
              </a:rPr>
              <a:t>人員管制 × 水耕養殖監控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429000"/>
            <a:ext cx="7616952" cy="365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E8F4"/>
                </a:solidFill>
                <a:latin typeface="微軟正黑體"/>
              </a:rPr>
              <a:t>YOLOv8  ·  InsightFace ArcFace  ·  Python Flask  ·  IoT Sensors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B0C0"/>
                </a:solidFill>
                <a:latin typeface="微軟正黑體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軟正黑體"/>
              </a:rPr>
              <a:t>報告大綱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474720" cy="2194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3474720" cy="4114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33A"/>
                </a:solidFill>
                <a:latin typeface="微軟正黑體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軟正黑體"/>
              </a:rPr>
              <a:t>研究背景與動機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051560"/>
            <a:ext cx="3474720" cy="2194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051560"/>
            <a:ext cx="3474720" cy="4114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33A"/>
                </a:solidFill>
                <a:latin typeface="微軟正黑體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軟正黑體"/>
              </a:rPr>
              <a:t>系統架構與技術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051560"/>
            <a:ext cx="3474720" cy="2194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1051560"/>
            <a:ext cx="3474720" cy="4114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33A"/>
                </a:solidFill>
                <a:latin typeface="微軟正黑體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16002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軟正黑體"/>
              </a:rPr>
              <a:t>數據收集方法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3474720" cy="2194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3474720" cy="4114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6118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33A"/>
                </a:solidFill>
                <a:latin typeface="微軟正黑體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148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軟正黑體"/>
              </a:rPr>
              <a:t>製作過程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566160"/>
            <a:ext cx="3474720" cy="2194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3566160"/>
            <a:ext cx="3474720" cy="4114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36118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33A"/>
                </a:solidFill>
                <a:latin typeface="微軟正黑體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1148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軟正黑體"/>
              </a:rPr>
              <a:t>研究成果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566160"/>
            <a:ext cx="3474720" cy="2194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3566160"/>
            <a:ext cx="3474720" cy="4114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36118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33A"/>
                </a:solidFill>
                <a:latin typeface="微軟正黑體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1148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軟正黑體"/>
              </a:rPr>
              <a:t>結論與未來展望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軟正黑體"/>
              </a:rPr>
              <a:t>01  研究背景與動機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577840" cy="53035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24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0F0"/>
                </a:solidFill>
                <a:latin typeface="微軟正黑體"/>
              </a:rPr>
              <a:t>現有問題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A0A0"/>
                </a:solidFill>
                <a:latin typeface="微軟正黑體"/>
              </a:rPr>
              <a:t>✗  傳統門禁依賴識別卡，易發生代刷或遺失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A0A0"/>
                </a:solidFill>
                <a:latin typeface="微軟正黑體"/>
              </a:rPr>
              <a:t>✗  人工簽到本無法即時查詢在室人員狀況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A0A0"/>
                </a:solidFill>
                <a:latin typeface="微軟正黑體"/>
              </a:rPr>
              <a:t>✗  養殖池水質異常須人員定時巡視，費時費力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A0A0"/>
                </a:solidFill>
                <a:latin typeface="微軟正黑體"/>
              </a:rPr>
              <a:t>✗  人員安全與環境監控各自獨立，管理分散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60120"/>
            <a:ext cx="5577840" cy="53035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24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0F0"/>
                </a:solidFill>
                <a:latin typeface="微軟正黑體"/>
              </a:rPr>
              <a:t>解決目標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9047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E07E"/>
                </a:solidFill>
                <a:latin typeface="微軟正黑體"/>
              </a:rPr>
              <a:t>✓  無接觸自動化人員管制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1051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E07E"/>
                </a:solidFill>
                <a:latin typeface="微軟正黑體"/>
              </a:rPr>
              <a:t>✓  整合兩大系統於單一儀表板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3055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E07E"/>
                </a:solidFill>
                <a:latin typeface="微軟正黑體"/>
              </a:rPr>
              <a:t>✓  即時異常警報，縮短反應時間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5059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E07E"/>
                </a:solidFill>
                <a:latin typeface="微軟正黑體"/>
              </a:rPr>
              <a:t>✓  驗證低成本 AI 攝影機可行性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軟正黑體"/>
              </a:rPr>
              <a:t>02  系統架構與技術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743200" cy="32004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7432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33A"/>
                </a:solidFill>
                <a:latin typeface="微軟正黑體"/>
              </a:rPr>
              <a:t>影像輸入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• 4 支 USB 監控攝影機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• 各自獨立 Thread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• 5 fps 運行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005840"/>
            <a:ext cx="2743200" cy="32004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005840"/>
            <a:ext cx="27432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0241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33A"/>
                </a:solidFill>
                <a:latin typeface="微軟正黑體"/>
              </a:rPr>
              <a:t>AI 偵測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• YOLOv8n 人體偵測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• InsightFace ArcFace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• 512D Embedding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005840"/>
            <a:ext cx="2743200" cy="32004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005840"/>
            <a:ext cx="27432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0241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33A"/>
                </a:solidFill>
                <a:latin typeface="微軟正黑體"/>
              </a:rPr>
              <a:t>後端核心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• Python Flask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• Waitress 32 threads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• MySQL 資料庫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005840"/>
            <a:ext cx="2743200" cy="32004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005840"/>
            <a:ext cx="27432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0241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33A"/>
                </a:solidFill>
                <a:latin typeface="微軟正黑體"/>
              </a:rPr>
              <a:t>通知整合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• Telegram Bot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• 即時推送截圖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• 分級警報機制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34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0F0"/>
                </a:solidFill>
                <a:latin typeface="微軟正黑體"/>
              </a:rPr>
              <a:t>攝影機 → AI 偵測 → State Machine → MySQL → 儀表板 → Telegram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89120"/>
            <a:ext cx="11274552" cy="36576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2743200" cy="16002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微軟正黑體"/>
              </a:rPr>
              <a:t>攝影機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949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  <a:latin typeface="微軟正黑體"/>
              </a:rPr>
              <a:t>概覽 + 人體追蹤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4983480"/>
            <a:ext cx="2743200" cy="16002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微軟正黑體"/>
              </a:rPr>
              <a:t>攝影機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3949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  <a:latin typeface="微軟正黑體"/>
              </a:rPr>
              <a:t>入口 ENTER 觸發
陌生人偵測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983480"/>
            <a:ext cx="2743200" cy="16002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微軟正黑體"/>
              </a:rPr>
              <a:t>攝影機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3949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  <a:latin typeface="微軟正黑體"/>
              </a:rPr>
              <a:t>室內 Presence 確認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4983480"/>
            <a:ext cx="2743200" cy="16002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微軟正黑體"/>
              </a:rPr>
              <a:t>攝影機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3949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  <a:latin typeface="微軟正黑體"/>
              </a:rPr>
              <a:t>出口 EXIT 觸發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軟正黑體"/>
              </a:rPr>
              <a:t>03  數據收集方法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029200" cy="53035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247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0F0"/>
                </a:solidFill>
                <a:latin typeface="微軟正黑體"/>
              </a:rPr>
              <a:t>人臉登錄流程 (Face Enrollment)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  ① 開啟人員管理頁面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  ② 新增成員並填寫資料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  ③ 選擇攝影機 2 或 3 拍攝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  ④ 系統顯示即時 Pose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70632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  ⑤ 依序完成 5 種角度拍攝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90672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  ⑥ 系統自動重建 Embedding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96012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0F0"/>
                </a:solidFill>
                <a:latin typeface="微軟正黑體"/>
              </a:rPr>
              <a:t>5 種拍攝角度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508760"/>
            <a:ext cx="1828800" cy="11887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1828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正面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508760"/>
            <a:ext cx="1828800" cy="11887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828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左側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1508760"/>
            <a:ext cx="1828800" cy="11887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828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右側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2880360"/>
            <a:ext cx="1828800" cy="11887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3200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低頭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880360"/>
            <a:ext cx="1828800" cy="11887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200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抬頭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4160520"/>
            <a:ext cx="6126480" cy="2011680"/>
          </a:xfrm>
          <a:prstGeom prst="rect">
            <a:avLst/>
          </a:prstGeom>
          <a:solidFill>
            <a:srgbClr val="1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42062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0E07E"/>
                </a:solidFill>
                <a:latin typeface="微軟正黑體"/>
              </a:rPr>
              <a:t>關鍵發現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617720"/>
            <a:ext cx="5760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E8F4"/>
                </a:solidFill>
                <a:latin typeface="微軟正黑體"/>
              </a:rPr>
              <a:t>以手機拍攝訓練照 → 信心值 0.42–0.51（低於門檻）
改用監控攝影機現場拍攝 → 信心值提升至 0.63–0.79
結論：訓練資料須與部署環境一致（Domain Consistency）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軟正黑體"/>
              </a:rPr>
              <a:t>04  製作過程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148840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3A"/>
                </a:solidFill>
                <a:latin typeface="微軟正黑體"/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148840" cy="43891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軟正黑體"/>
              </a:rPr>
              <a:t>感測器連線
與資料收集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1965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  <a:latin typeface="微軟正黑體"/>
              </a:rPr>
              <a:t>連接 IoT Node
建立 MySQL 資料庫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1005840"/>
            <a:ext cx="2148840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02412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3A"/>
                </a:solidFill>
                <a:latin typeface="微軟正黑體"/>
              </a:rPr>
              <a:t>Step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1508760"/>
            <a:ext cx="2148840" cy="43891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6002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軟正黑體"/>
              </a:rPr>
              <a:t>系統架構
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514600"/>
            <a:ext cx="1965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  <a:latin typeface="微軟正黑體"/>
              </a:rPr>
              <a:t>規劃 API、DB 結構
前後端分工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2148840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02412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3A"/>
                </a:solidFill>
                <a:latin typeface="微軟正黑體"/>
              </a:rPr>
              <a:t>Step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508760"/>
            <a:ext cx="2148840" cy="43891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6002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軟正黑體"/>
              </a:rPr>
              <a:t>感測器監控
網頁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514600"/>
            <a:ext cx="1965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  <a:latin typeface="微軟正黑體"/>
              </a:rPr>
              <a:t>即時儀表板
Alert 機制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19" y="1005840"/>
            <a:ext cx="2148840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19" y="102412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3A"/>
                </a:solidFill>
                <a:latin typeface="微軟正黑體"/>
              </a:rPr>
              <a:t>Step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19" y="1508760"/>
            <a:ext cx="2148840" cy="43891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59" y="16002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軟正黑體"/>
              </a:rPr>
              <a:t>AI 人員管制
系統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2514600"/>
            <a:ext cx="1965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  <a:latin typeface="微軟正黑體"/>
              </a:rPr>
              <a:t>YOLO + ArcFace
State Machine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1005840"/>
            <a:ext cx="2148840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102412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3A"/>
                </a:solidFill>
                <a:latin typeface="微軟正黑體"/>
              </a:rPr>
              <a:t>Step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1508760"/>
            <a:ext cx="2148840" cy="43891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60020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軟正黑體"/>
              </a:rPr>
              <a:t>測試與
持續優化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514600"/>
            <a:ext cx="1965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  <a:latin typeface="微軟正黑體"/>
              </a:rPr>
              <a:t>修正 False EXIT
UNKNOWN 偵測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989320"/>
            <a:ext cx="11457432" cy="685800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035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B0C0"/>
                </a:solidFill>
                <a:latin typeface="微軟正黑體"/>
              </a:rPr>
              <a:t>主要修正：Camera backend DSHOW→MSMF  ·  重拍訓練照  ·  False EXIT grace period  ·  UNKNOWN 獨立偵測邏輯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軟正黑體"/>
              </a:rPr>
              <a:t>05  研究成果 — 人員管制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0F0"/>
                </a:solidFill>
                <a:latin typeface="微軟正黑體"/>
              </a:rPr>
              <a:t>人臉辨識信心值比較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600200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33A"/>
                </a:solidFill>
                <a:latin typeface="微軟正黑體"/>
              </a:rPr>
              <a:t>成員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371600"/>
            <a:ext cx="2331720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389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33A"/>
                </a:solidFill>
                <a:latin typeface="微軟正黑體"/>
              </a:rPr>
              <a:t>改善前（手機拍攝）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371600"/>
            <a:ext cx="2331720" cy="5029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3898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33A"/>
                </a:solidFill>
                <a:latin typeface="微軟正黑體"/>
              </a:rPr>
              <a:t>改善後（攝影機拍攝）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1600200" cy="475488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933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軟正黑體"/>
              </a:rPr>
              <a:t>Tongen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920240"/>
            <a:ext cx="2331720" cy="475488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19933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軟正黑體"/>
              </a:rPr>
              <a:t>0.63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920240"/>
            <a:ext cx="2331720" cy="475488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9933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軟正黑體"/>
              </a:rPr>
              <a:t>0.63 – 0.77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23160"/>
            <a:ext cx="1600200" cy="475488"/>
          </a:xfrm>
          <a:prstGeom prst="rect">
            <a:avLst/>
          </a:prstGeom>
          <a:solidFill>
            <a:srgbClr val="1E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49631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軟正黑體"/>
              </a:rPr>
              <a:t>jiabao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2423160"/>
            <a:ext cx="2331720" cy="475488"/>
          </a:xfrm>
          <a:prstGeom prst="rect">
            <a:avLst/>
          </a:prstGeom>
          <a:solidFill>
            <a:srgbClr val="1E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24963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8080"/>
                </a:solidFill>
                <a:latin typeface="微軟正黑體"/>
              </a:rPr>
              <a:t>0.42 – 0.51  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423160"/>
            <a:ext cx="2331720" cy="475488"/>
          </a:xfrm>
          <a:prstGeom prst="rect">
            <a:avLst/>
          </a:prstGeom>
          <a:solidFill>
            <a:srgbClr val="1E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4963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E07E"/>
                </a:solidFill>
                <a:latin typeface="微軟正黑體"/>
              </a:rPr>
              <a:t>0.68  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26080"/>
            <a:ext cx="1600200" cy="475488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9992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軟正黑體"/>
              </a:rPr>
              <a:t>TT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2926080"/>
            <a:ext cx="2331720" cy="475488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29992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8080"/>
                </a:solidFill>
                <a:latin typeface="微軟正黑體"/>
              </a:rPr>
              <a:t>無法偵測  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926080"/>
            <a:ext cx="2331720" cy="475488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29992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0E07E"/>
                </a:solidFill>
                <a:latin typeface="微軟正黑體"/>
              </a:rPr>
              <a:t>0.79 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20440"/>
            <a:ext cx="6537960" cy="9144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61188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8F4"/>
                </a:solidFill>
                <a:latin typeface="微軟正黑體"/>
              </a:rPr>
              <a:t>辨識速度（攝影機 2）：0.18 – 0.38 秒 / 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914400"/>
            <a:ext cx="4846320" cy="2194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0" y="914400"/>
            <a:ext cx="4846320" cy="411480"/>
          </a:xfrm>
          <a:prstGeom prst="rect">
            <a:avLst/>
          </a:prstGeom>
          <a:solidFill>
            <a:srgbClr val="1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960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微軟正黑體"/>
              </a:rPr>
              <a:t>False EXIT 修正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14173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E8F4"/>
                </a:solidFill>
                <a:latin typeface="微軟正黑體"/>
              </a:rPr>
              <a:t>前：每 1–2 分鐘誤觸 EXIT
後：15 分鐘以上無假性 EXIT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3383280"/>
            <a:ext cx="4846320" cy="2194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0" y="3383280"/>
            <a:ext cx="4846320" cy="411480"/>
          </a:xfrm>
          <a:prstGeom prst="rect">
            <a:avLst/>
          </a:prstGeom>
          <a:solidFill>
            <a:srgbClr val="1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8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微軟正黑體"/>
              </a:rPr>
              <a:t>陌生人偵測修正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38862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E8F4"/>
                </a:solidFill>
                <a:latin typeface="微軟正黑體"/>
              </a:rPr>
              <a:t>前：陌生人被誤認為成員
後：攝影機 2 獨立 UNKNOWN 偵測
    立即發送 Telegram 截圖通知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軟正黑體"/>
              </a:rPr>
              <a:t>05  研究成果 — 水耕養殖監控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0F0"/>
                </a:solidFill>
                <a:latin typeface="微軟正黑體"/>
              </a:rPr>
              <a:t>監控指標（3 座養殖池 × 6 項水質參數）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657600" cy="100584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385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  <a:latin typeface="微軟正黑體"/>
              </a:rPr>
              <a:t>正常範圍：6.5 – 7.5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657600" cy="100584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81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溫度 (°C)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385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  <a:latin typeface="微軟正黑體"/>
              </a:rPr>
              <a:t>正常範圍：22 –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17320"/>
            <a:ext cx="3657600" cy="100584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481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溶氧量 (mg/L)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9385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  <a:latin typeface="微軟正黑體"/>
              </a:rPr>
              <a:t>正常範圍：6.0 – 8.0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3657600" cy="100584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786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氨氮 (mg/L)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0358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  <a:latin typeface="微軟正黑體"/>
              </a:rPr>
              <a:t>正常範圍：&lt; 0.5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514600"/>
            <a:ext cx="3657600" cy="100584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5786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濁度 (NTU)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0358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  <a:latin typeface="微軟正黑體"/>
              </a:rPr>
              <a:t>正常範圍：&lt; 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514600"/>
            <a:ext cx="3657600" cy="100584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5786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軟正黑體"/>
              </a:rPr>
              <a:t>電導率 (μS/cm)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0358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E8F4"/>
                </a:solidFill>
                <a:latin typeface="微軟正黑體"/>
              </a:rPr>
              <a:t>正常範圍：依需求設定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0F0"/>
                </a:solidFill>
                <a:latin typeface="微軟正黑體"/>
              </a:rPr>
              <a:t>四級警報機制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51960"/>
            <a:ext cx="2743200" cy="22860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3159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微軟正黑體"/>
              </a:rPr>
              <a:t>👁  Visual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8463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E8F4"/>
                </a:solidFill>
                <a:latin typeface="微軟正黑體"/>
              </a:rPr>
              <a:t>數值接近門檻 15%
卡片顏色警示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4251960"/>
            <a:ext cx="2743200" cy="22860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159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微軟正黑體"/>
              </a:rPr>
              <a:t>🟡  Alert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8463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E8F4"/>
                </a:solidFill>
                <a:latin typeface="微軟正黑體"/>
              </a:rPr>
              <a:t>超標持續 ≥ 30 分鐘
Telegram 通知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251960"/>
            <a:ext cx="2743200" cy="22860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3159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微軟正黑體"/>
              </a:rPr>
              <a:t>🔴  Alert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8463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E8F4"/>
                </a:solidFill>
                <a:latin typeface="微軟正黑體"/>
              </a:rPr>
              <a:t>超標持續 ≥ 2 小時
Telegram 升級警報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4251960"/>
            <a:ext cx="2743200" cy="22860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43159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微軟正黑體"/>
              </a:rPr>
              <a:t>🔌  Fault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8463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E8F4"/>
                </a:solidFill>
                <a:latin typeface="微軟正黑體"/>
              </a:rPr>
              <a:t>回傳值持續為 0
感測器故障通知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軟正黑體"/>
              </a:rPr>
              <a:t>06  結論與未來展望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57600" cy="292608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6576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875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3A"/>
                </a:solidFill>
                <a:latin typeface="微軟正黑體"/>
              </a:rPr>
              <a:t>技術可行性驗證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低成本 USB 攝影機 + 開源 AI（ArcFace）
可達實用等級辨識（信心值 0.63–0.79）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960120"/>
            <a:ext cx="3657600" cy="292608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960120"/>
            <a:ext cx="36576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9875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3A"/>
                </a:solidFill>
                <a:latin typeface="微軟正黑體"/>
              </a:rPr>
              <a:t>資料品質勝於數量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與部署環境一致的訓練資料
比大量低品質資料更有效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960120"/>
            <a:ext cx="3657600" cy="292608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960120"/>
            <a:ext cx="36576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9875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3A"/>
                </a:solidFill>
                <a:latin typeface="微軟正黑體"/>
              </a:rPr>
              <a:t>系統整合效益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50876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軟正黑體"/>
              </a:rPr>
              <a:t>人員管制 + 水耕監控整合單一儀表板
降低管理複雜度與人力成本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5577840" cy="25146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793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0F0"/>
                </a:solidFill>
                <a:latin typeface="微軟正黑體"/>
              </a:rPr>
              <a:t>已知限制與改善方向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4515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E8F4"/>
                </a:solidFill>
                <a:latin typeface="微軟正黑體"/>
              </a:rPr>
              <a:t>→  USB 頻寬限制 → 改用 PoE 網路攝影機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6519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E8F4"/>
                </a:solidFill>
                <a:latin typeface="微軟正黑體"/>
              </a:rPr>
              <a:t>→  攝影機盲區 → 增加鏡頭數量或調整角度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85231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E8F4"/>
                </a:solidFill>
                <a:latin typeface="微軟正黑體"/>
              </a:rPr>
              <a:t>→  低光源辨識率下降 → 補光或換低光鏡頭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05271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E8F4"/>
                </a:solidFill>
                <a:latin typeface="微軟正黑體"/>
              </a:rPr>
              <a:t>→  擴充至 Edge 設備（Jetson / Pi）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114800"/>
            <a:ext cx="5577840" cy="25146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0F0"/>
                </a:solidFill>
                <a:latin typeface="微軟正黑體"/>
              </a:rPr>
              <a:t>未來功能擴充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4515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E07E"/>
                </a:solidFill>
                <a:latin typeface="微軟正黑體"/>
              </a:rPr>
              <a:t>★  擴大人員資料庫測試穩定性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965192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E07E"/>
                </a:solidFill>
                <a:latin typeface="微軟正黑體"/>
              </a:rPr>
              <a:t>★  加入出勤統計報表功能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285231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E07E"/>
                </a:solidFill>
                <a:latin typeface="微軟正黑體"/>
              </a:rPr>
              <a:t>★  結合 AI 趨勢預測水質異常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605271"/>
            <a:ext cx="5257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E07E"/>
                </a:solidFill>
                <a:latin typeface="微軟正黑體"/>
              </a:rPr>
              <a:t>★  開發手機 App 版儀表板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0"/>
            <a:ext cx="320040" cy="2286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微軟正黑體"/>
              </a:rPr>
              <a:t>感謝聆聽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00B0F0"/>
                </a:solidFill>
                <a:latin typeface="微軟正黑體"/>
              </a:rPr>
              <a:t>Q &amp; A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840480"/>
            <a:ext cx="7616952" cy="3657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B0C0"/>
                </a:solidFill>
                <a:latin typeface="微軟正黑體"/>
              </a:rPr>
              <a:t>智慧實驗室人員管制與水耕養殖監控系統
YOLOv8  ·  InsightFace ArcFace  ·  Python Flask  ·  IoT Sensors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